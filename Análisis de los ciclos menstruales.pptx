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5"/>
  </p:notesMasterIdLst>
  <p:handoutMasterIdLst>
    <p:handoutMasterId r:id="rId16"/>
  </p:handoutMasterIdLst>
  <p:sldIdLst>
    <p:sldId id="343" r:id="rId5"/>
    <p:sldId id="342" r:id="rId6"/>
    <p:sldId id="350" r:id="rId7"/>
    <p:sldId id="324" r:id="rId8"/>
    <p:sldId id="351" r:id="rId9"/>
    <p:sldId id="352" r:id="rId10"/>
    <p:sldId id="353" r:id="rId11"/>
    <p:sldId id="354" r:id="rId12"/>
    <p:sldId id="355" r:id="rId13"/>
    <p:sldId id="331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7061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4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0" autoAdjust="0"/>
    <p:restoredTop sz="84967" autoAdjust="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>
        <p:guide orient="horz" pos="1389"/>
        <p:guide pos="7061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0AAA6EE-6919-4DC7-8439-298F991E723B}" type="datetime1">
              <a:rPr lang="es-ES" smtClean="0"/>
              <a:t>11/11/2025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397C78D2-97D1-4B37-BDD1-08A09BD4CA9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340614D4-F124-4668-AD9D-A3BFE7ECCF6B}" type="datetime1">
              <a:rPr lang="es-ES" smtClean="0"/>
              <a:pPr/>
              <a:t>11/11/2025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5939589-3E79-4C82-AA4A-FE78234FAA5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3ABD-4FF5-1401-24D4-B0D14F96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380F7A-7926-E994-8A25-BA1E0D29C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F0F5C5-6AEA-EA44-D91D-E469CA1E4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1F59CE-ADDB-87A0-ED18-9D71CFAA4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120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9F16-6AAB-EC35-A1F5-FFB9CB6A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088A4F-86C1-1C0B-198F-79A2AA7E3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6940C2-99FB-B8AC-398C-88CC9A022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74AEFB-143A-F9DE-FBF8-1D32C0188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6966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341F-7628-DEB6-4F06-F38EB532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2D82F8-9B30-5B80-E6AD-2127799FF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E39961-5536-A4D3-9F23-3771E3059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D9115B-F437-825A-C3FC-CBD6C1206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9605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819E-5B98-85E7-7143-E32A96D5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CC2B936-C8B2-4E02-258F-824885D50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E40C3D-AEC5-B407-F1E0-4D1A1CC90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5C42FC-A942-2910-CC35-3D2E46095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695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8A66-4B5B-2934-86DE-31816533E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C7FC38E-E054-D5BF-4DBB-601656923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6F6049-3C45-D07B-5011-06571A518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4009F7-BDB6-7878-9065-35BAD0A10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2951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8A66-4B5B-2934-86DE-31816533E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C7FC38E-E054-D5BF-4DBB-601656923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6F6049-3C45-D07B-5011-06571A518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4009F7-BDB6-7878-9065-35BAD0A10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9872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solo 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es-ES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á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Grá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7" name="Grá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" name="Marcador de posición de imagen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5" name="Marcador de posición de imagen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es-ES" sz="1800"/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defRPr lang="es-ES" sz="1600"/>
            </a:lvl2pPr>
            <a:lvl3pPr marL="457200">
              <a:defRPr lang="es-ES" sz="1400"/>
            </a:lvl3pPr>
            <a:lvl4pPr marL="685800">
              <a:defRPr lang="es-ES" sz="1200"/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á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Grá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4" name="Marcador de pie de pá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+ diapositiva de sub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á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es-ES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es-ES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es-ES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es-ES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 indent="0">
              <a:spcBef>
                <a:spcPts val="1200"/>
              </a:spcBef>
              <a:buNone/>
              <a:defRPr lang="es-ES" sz="1600"/>
            </a:lvl2pPr>
            <a:lvl3pPr marL="914400" indent="0">
              <a:spcBef>
                <a:spcPts val="1200"/>
              </a:spcBef>
              <a:buNone/>
              <a:defRPr lang="es-ES" sz="1400"/>
            </a:lvl3pPr>
            <a:lvl4pPr marL="1371600" indent="0">
              <a:spcBef>
                <a:spcPts val="1200"/>
              </a:spcBef>
              <a:buNone/>
              <a:defRPr lang="es-ES" sz="1200"/>
            </a:lvl4pPr>
            <a:lvl5pPr marL="1828800" indent="0">
              <a:spcBef>
                <a:spcPts val="1200"/>
              </a:spcBef>
              <a:buNone/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600"/>
            </a:lvl2pPr>
            <a:lvl3pPr>
              <a:spcBef>
                <a:spcPts val="1200"/>
              </a:spcBef>
              <a:defRPr lang="es-ES" sz="1400"/>
            </a:lvl3pPr>
            <a:lvl4pPr>
              <a:spcBef>
                <a:spcPts val="1200"/>
              </a:spcBef>
              <a:defRPr lang="es-ES" sz="1200"/>
            </a:lvl4pPr>
            <a:lvl5pPr>
              <a:spcBef>
                <a:spcPts val="1200"/>
              </a:spcBef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es-ES" sz="4000" b="1" i="0" cap="all" spc="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lnSpc>
                <a:spcPct val="110000"/>
              </a:lnSpc>
              <a:defRPr lang="es-ES" sz="1600"/>
            </a:lvl2pPr>
            <a:lvl3pPr marL="457200">
              <a:lnSpc>
                <a:spcPct val="110000"/>
              </a:lnSpc>
              <a:defRPr lang="es-ES" sz="1400"/>
            </a:lvl3pPr>
            <a:lvl4pPr marL="685800">
              <a:lnSpc>
                <a:spcPct val="110000"/>
              </a:lnSpc>
              <a:defRPr lang="es-ES" sz="1200"/>
            </a:lvl4pPr>
            <a:lvl5pPr marL="914400">
              <a:lnSpc>
                <a:spcPct val="110000"/>
              </a:lnSpc>
              <a:defRPr lang="es-ES" sz="12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0" name="Marcador de pie de pá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es-ES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es-ES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es-ES" sz="1200">
                <a:solidFill>
                  <a:schemeClr val="tx1"/>
                </a:solidFill>
              </a:defRPr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pie de pá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>
              <a:spcBef>
                <a:spcPts val="1200"/>
              </a:spcBef>
              <a:defRPr lang="es-ES" sz="1800"/>
            </a:lvl2pPr>
            <a:lvl3pPr marL="914400">
              <a:spcBef>
                <a:spcPts val="1200"/>
              </a:spcBef>
              <a:defRPr lang="es-ES" sz="1800"/>
            </a:lvl3pPr>
            <a:lvl4pPr marL="1371600">
              <a:spcBef>
                <a:spcPts val="1200"/>
              </a:spcBef>
              <a:defRPr lang="es-ES" sz="1800"/>
            </a:lvl4pPr>
            <a:lvl5pPr marL="18288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800"/>
            </a:lvl2pPr>
            <a:lvl3pPr>
              <a:spcBef>
                <a:spcPts val="1200"/>
              </a:spcBef>
              <a:defRPr lang="es-ES" sz="1800"/>
            </a:lvl3pPr>
            <a:lvl4pPr>
              <a:spcBef>
                <a:spcPts val="1200"/>
              </a:spcBef>
              <a:defRPr lang="es-ES" sz="1800"/>
            </a:lvl4pPr>
            <a:lvl5pPr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á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Grá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Grá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á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6" name="Grá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7" name="Grá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es-ES" sz="4000" b="1" cap="all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rbujas de imagen y títu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es-ES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Marcador de posición de imagen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á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5" name="Grá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6" name="Grá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es-ES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es-ES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pexels.com/photo/person-holding-menstrual-cup-3683075/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pexels.com/photo/person-holding-menstrual-cup-3683075/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7.png"/><Relationship Id="rId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8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9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</a:t>
            </a:r>
            <a:r>
              <a:rPr lang="es-ES" dirty="0" err="1"/>
              <a:t>dEl</a:t>
            </a:r>
            <a:r>
              <a:rPr lang="es-ES" dirty="0"/>
              <a:t> ciclo menstrual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Paula Cadavieco Domínguez</a:t>
            </a:r>
          </a:p>
        </p:txBody>
      </p:sp>
      <p:pic>
        <p:nvPicPr>
          <p:cNvPr id="6" name="Marcador de posición de imagen 21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6667" b="16667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MI DATASET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194560"/>
            <a:ext cx="7094538" cy="4023360"/>
          </a:xfrm>
        </p:spPr>
        <p:txBody>
          <a:bodyPr rtlCol="0"/>
          <a:lstStyle>
            <a:defPPr>
              <a:defRPr lang="es-ES"/>
            </a:defPPr>
          </a:lstStyle>
          <a:p>
            <a:pPr algn="just" rtl="0"/>
            <a:r>
              <a:rPr lang="es-ES" dirty="0"/>
              <a:t>Variables demográficas de las usuarias: edad e IMC de cada usuaria.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ES" dirty="0"/>
              <a:t>Factores relacionados con el </a:t>
            </a:r>
            <a:r>
              <a:rPr lang="es-ES" b="1" dirty="0"/>
              <a:t>estilo de vida</a:t>
            </a:r>
            <a:r>
              <a:rPr lang="es-ES" dirty="0"/>
              <a:t>: niveles de estrés, frecuencia de ejercicio, patrones de sueño y hábitos alimenticios.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ES" b="1" dirty="0"/>
              <a:t>Detalles del ciclo menstrual</a:t>
            </a:r>
            <a:r>
              <a:rPr lang="es-ES" dirty="0"/>
              <a:t>: fecha de inicio, duración del ciclo, duración del periodo y fecha de inicio del siguiente ciclo.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ES" b="1" dirty="0"/>
              <a:t>Síntomas</a:t>
            </a:r>
            <a:r>
              <a:rPr lang="es-ES" dirty="0"/>
              <a:t>: síntomas menstruales comunes experimentados por las usuarias.</a:t>
            </a:r>
          </a:p>
        </p:txBody>
      </p:sp>
      <p:pic>
        <p:nvPicPr>
          <p:cNvPr id="5" name="Marcador de posición de imagen 21">
            <a:extLst>
              <a:ext uri="{FF2B5EF4-FFF2-40B4-BE49-F238E27FC236}">
                <a16:creationId xmlns:a16="http://schemas.microsoft.com/office/drawing/2014/main" id="{4FF11044-158D-FDFA-91E6-D89094C90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6667" b="16667"/>
          <a:stretch/>
        </p:blipFill>
        <p:spPr>
          <a:xfrm>
            <a:off x="1381947" y="949099"/>
            <a:ext cx="1942278" cy="1942282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77DA-F4C0-EA54-57E2-F6D7C5DD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E3737-33F7-8F6F-5822-E38E30DC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¿Cuánto dura normalmente un ciclo?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EFC6DB65-7F31-8086-0546-61A8EB0775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3064" y="2205038"/>
            <a:ext cx="3964136" cy="4297167"/>
          </a:xfrm>
          <a:prstGeom prst="rect">
            <a:avLst/>
          </a:prstGeom>
          <a:noFill/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4A8D31-64EF-4EA1-B384-FB2084548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3192412"/>
            <a:ext cx="5267534" cy="232241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La variable presenta una </a:t>
            </a:r>
            <a:r>
              <a:rPr lang="es-ES" b="1" dirty="0"/>
              <a:t>distribución similar a la normal</a:t>
            </a:r>
            <a:r>
              <a:rPr lang="es-ES" dirty="0"/>
              <a:t>, lo que indica una duración de ciclos bastante homogénea.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La </a:t>
            </a:r>
            <a:r>
              <a:rPr lang="es-ES" b="1" dirty="0"/>
              <a:t>mayoría se concentra entre 36 y 40 días</a:t>
            </a:r>
            <a:r>
              <a:rPr lang="es-ES" dirty="0"/>
              <a:t>, con un promedio de 37,36 días, ligeramente </a:t>
            </a:r>
            <a:r>
              <a:rPr lang="es-ES" b="1" dirty="0"/>
              <a:t>superior al rango habitual </a:t>
            </a:r>
            <a:r>
              <a:rPr lang="es-ES" dirty="0"/>
              <a:t>(28-35 días). Para evitar sesgos, se excluyeron los ciclos mayores a 50 días.</a:t>
            </a:r>
          </a:p>
        </p:txBody>
      </p:sp>
    </p:spTree>
    <p:extLst>
      <p:ext uri="{BB962C8B-B14F-4D97-AF65-F5344CB8AC3E}">
        <p14:creationId xmlns:p14="http://schemas.microsoft.com/office/powerpoint/2010/main" val="359580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Ejercicio y duración del período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just" rtl="0"/>
            <a:r>
              <a:rPr lang="es-ES" dirty="0"/>
              <a:t>Al agrupar por categorías (baja, moderada, alta), se observa una </a:t>
            </a:r>
            <a:r>
              <a:rPr lang="es-ES" b="1" dirty="0"/>
              <a:t>ligera tendencia al aumento</a:t>
            </a:r>
            <a:r>
              <a:rPr lang="es-ES" dirty="0"/>
              <a:t> de la duración del período con mayor frecuencia de ejercicio.</a:t>
            </a:r>
          </a:p>
          <a:p>
            <a:pPr rtl="0"/>
            <a:r>
              <a:rPr lang="es-ES" dirty="0"/>
              <a:t>Esto podría sugerir que </a:t>
            </a:r>
            <a:r>
              <a:rPr lang="es-ES" b="1" dirty="0"/>
              <a:t>el ejercicio frecuente o intenso influye levemente en la regulación hormonal</a:t>
            </a:r>
            <a:r>
              <a:rPr lang="es-ES" dirty="0"/>
              <a:t>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1CC01A38-A4B1-846D-42D1-0A5D3524E00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39967" y="1765263"/>
            <a:ext cx="4569371" cy="44069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0750D8C-8AEB-3AD1-C152-AB6889A48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5717" y="4582466"/>
            <a:ext cx="4086453" cy="126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F25F4-464A-F960-76B3-6493C035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A4063-B673-1A1A-91A2-57F0D0D2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832386"/>
            <a:ext cx="4107629" cy="210312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Hábitos alimenticios y bienestar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1FBE4B-EDF4-7913-51EB-FB8D5BA95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695" y="4114800"/>
            <a:ext cx="9362609" cy="210312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algn="just" rtl="0"/>
            <a:r>
              <a:rPr lang="es-ES" sz="1600" dirty="0"/>
              <a:t>Las diferencias entre dietas son pequeñas, pero se observan tendencias: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Dietas </a:t>
            </a:r>
            <a:r>
              <a:rPr lang="es-ES" sz="1600" b="1" dirty="0"/>
              <a:t>bajas en carbohidratos </a:t>
            </a:r>
            <a:r>
              <a:rPr lang="es-ES" sz="1600" dirty="0"/>
              <a:t>→ periodos más consistentes con </a:t>
            </a:r>
            <a:r>
              <a:rPr lang="es-ES" sz="1600" b="1" dirty="0"/>
              <a:t>menor variabilidad.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Dietas </a:t>
            </a:r>
            <a:r>
              <a:rPr lang="es-ES" sz="1600" b="1" dirty="0"/>
              <a:t>altas en azúcares </a:t>
            </a:r>
            <a:r>
              <a:rPr lang="es-ES" sz="1600" dirty="0"/>
              <a:t>→</a:t>
            </a:r>
            <a:r>
              <a:rPr lang="es-ES" sz="1600" b="1" dirty="0"/>
              <a:t> </a:t>
            </a:r>
            <a:r>
              <a:rPr lang="es-ES" sz="1600" dirty="0"/>
              <a:t>periodos ligeramente </a:t>
            </a:r>
            <a:r>
              <a:rPr lang="es-ES" sz="1600" b="1" dirty="0"/>
              <a:t>más largos</a:t>
            </a:r>
            <a:r>
              <a:rPr lang="es-ES" sz="1600" dirty="0"/>
              <a:t> y una </a:t>
            </a:r>
            <a:r>
              <a:rPr lang="es-ES" sz="1600" b="1" dirty="0"/>
              <a:t>mayor variabilidad</a:t>
            </a:r>
            <a:r>
              <a:rPr lang="es-ES" sz="1600" dirty="0"/>
              <a:t> en la duración del sangrado.</a:t>
            </a:r>
          </a:p>
          <a:p>
            <a:pPr algn="just" rtl="0"/>
            <a:r>
              <a:rPr lang="es-ES" sz="1600" b="1" dirty="0"/>
              <a:t>Dietas con una alimentación más controlada o equilibrada en carbohidratos y azúcares podría favorecer una mayor regularidad menstrual</a:t>
            </a:r>
            <a:r>
              <a:rPr lang="es-ES" sz="1600" dirty="0"/>
              <a:t>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7D22DA9-4FA2-589B-1287-56B757AED53A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/>
          <a:stretch>
            <a:fillRect/>
          </a:stretch>
        </p:blipFill>
        <p:spPr>
          <a:xfrm>
            <a:off x="5200080" y="313484"/>
            <a:ext cx="6451204" cy="3622022"/>
          </a:xfrm>
        </p:spPr>
      </p:pic>
    </p:spTree>
    <p:extLst>
      <p:ext uri="{BB962C8B-B14F-4D97-AF65-F5344CB8AC3E}">
        <p14:creationId xmlns:p14="http://schemas.microsoft.com/office/powerpoint/2010/main" val="152079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05B0D-F94E-57DE-295D-2066199D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FC231-5445-6E4F-6F8E-C568D6FD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84716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Estrés y descanso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145F7D-70E8-E98B-01D6-10CF5F791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927412"/>
            <a:ext cx="4846320" cy="4440602"/>
          </a:xfrm>
        </p:spPr>
        <p:txBody>
          <a:bodyPr rtlCol="0"/>
          <a:lstStyle>
            <a:defPPr>
              <a:defRPr lang="es-ES"/>
            </a:defPPr>
          </a:lstStyle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ES" b="1" dirty="0"/>
              <a:t>A mayor nivel de estrés, se observa una reducción progresiva en las horas promedio de sueño.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ES" dirty="0"/>
              <a:t>Esta relación entre estrés y descanso es la única tendencia clara encontrada al analizar las variables. No se detectan efectos significativos del estrés o el sueño sobre la duración o regularidad del ciclo menstrual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8843E1F-5B60-D09A-8A84-74C22DCCDC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1745" y="2205038"/>
            <a:ext cx="5099271" cy="370194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292EC8C-585D-E59A-B1B2-CD34AC0597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5425" y="4576053"/>
            <a:ext cx="3935789" cy="153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8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FEDF-E4D1-D753-D27E-C39B5BBC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5E02E-7D2D-5190-02B1-084B590B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748553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Síntomas más comunes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13040E82-1DC2-70C1-2E8A-1BB05F960F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160" y="1932072"/>
            <a:ext cx="5139549" cy="4240128"/>
          </a:xfrm>
          <a:prstGeom prst="rect">
            <a:avLst/>
          </a:prstGeom>
          <a:noFill/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E28758-6BC8-59FB-BBD8-14ABD50D0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463692"/>
            <a:ext cx="4485936" cy="317688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just" rtl="0"/>
            <a:r>
              <a:rPr lang="es-ES" dirty="0"/>
              <a:t>Los síntomas más frecuentes son la hinchazón (22.6%) y la fatiga (20%), seguidos por los dolores de cabeza y calambres.</a:t>
            </a:r>
          </a:p>
          <a:p>
            <a:pPr algn="just" rtl="0"/>
            <a:r>
              <a:rPr lang="es-ES" dirty="0"/>
              <a:t>Los </a:t>
            </a:r>
            <a:r>
              <a:rPr lang="es-ES" b="1" dirty="0"/>
              <a:t>cambios de humor aparecen con menor frecuencia</a:t>
            </a:r>
            <a:r>
              <a:rPr lang="es-ES" dirty="0"/>
              <a:t>, aunque siguen presentes.</a:t>
            </a:r>
          </a:p>
          <a:p>
            <a:pPr algn="just" rtl="0"/>
            <a:r>
              <a:rPr lang="es-ES" dirty="0"/>
              <a:t>Las proporciones son relativamente equilibradas, lo que indica que </a:t>
            </a:r>
            <a:r>
              <a:rPr lang="es-ES" b="1" dirty="0"/>
              <a:t>no existe un síntoma dominante.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003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710A-F318-9235-0008-A6942FD8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9D04E-F2E2-F8CF-52A6-F2B20C11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236" y="509532"/>
            <a:ext cx="4815836" cy="210312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algn="r" rtl="0"/>
            <a:r>
              <a:rPr lang="es-ES" dirty="0"/>
              <a:t>Cómo varían los síntomas según la época del año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F86E27-668B-67BC-66C0-F55B0E8B4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347" y="631614"/>
            <a:ext cx="4815837" cy="210312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>
              <a:lnSpc>
                <a:spcPct val="90000"/>
              </a:lnSpc>
            </a:pPr>
            <a:r>
              <a:rPr lang="es-ES" dirty="0"/>
              <a:t>La carga global de síntomas no varía mucho entre estaciones. ¿Qué síntomas aumentan en cada época?</a:t>
            </a:r>
          </a:p>
          <a:p>
            <a:pPr marL="285750" indent="-285750" algn="just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dirty="0"/>
              <a:t>Hinchazón: más en verano y otoño (retención de líquidos, temperatura).</a:t>
            </a:r>
          </a:p>
          <a:p>
            <a:pPr marL="285750" indent="-285750" algn="just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dirty="0"/>
              <a:t>Calambres: más en invierno (menor actividad, déficit mineral, frío).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0B8A410-FD91-FBFA-7004-4B78B459899E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9496" y="3119718"/>
            <a:ext cx="7455479" cy="33363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542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710A-F318-9235-0008-A6942FD8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9D04E-F2E2-F8CF-52A6-F2B20C11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Cambios en el ciclo a lo largo del tiempo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F86E27-668B-67BC-66C0-F55B0E8B4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4330" y="658009"/>
            <a:ext cx="4815836" cy="210312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algn="just" rtl="0"/>
            <a:r>
              <a:rPr lang="es-ES" dirty="0"/>
              <a:t>La </a:t>
            </a:r>
            <a:r>
              <a:rPr lang="es-ES" b="1" dirty="0"/>
              <a:t>duración promedio del ciclo </a:t>
            </a:r>
            <a:r>
              <a:rPr lang="es-ES" dirty="0"/>
              <a:t>se mantiene </a:t>
            </a:r>
            <a:r>
              <a:rPr lang="es-ES" b="1" dirty="0"/>
              <a:t>bastante estable mes a mes</a:t>
            </a:r>
            <a:r>
              <a:rPr lang="es-ES" dirty="0"/>
              <a:t>. Hay pequeñas subidas y bajadas, que podrían deberse a estrés, cambios de hábitos o variaciones estacionales, pero sin una tendencia clara.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75C8CE49-32D3-7A9D-75B4-F2D67AFCE8FE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159" y="3021106"/>
            <a:ext cx="10370007" cy="2922495"/>
          </a:xfrm>
          <a:noFill/>
        </p:spPr>
      </p:pic>
    </p:spTree>
    <p:extLst>
      <p:ext uri="{BB962C8B-B14F-4D97-AF65-F5344CB8AC3E}">
        <p14:creationId xmlns:p14="http://schemas.microsoft.com/office/powerpoint/2010/main" val="89788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8" y="5029200"/>
            <a:ext cx="10302240" cy="891926"/>
          </a:xfrm>
        </p:spPr>
        <p:txBody>
          <a:bodyPr rtlCol="0" anchor="t">
            <a:normAutofit fontScale="9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CONCLUSIONES</a:t>
            </a:r>
          </a:p>
        </p:txBody>
      </p:sp>
      <p:sp>
        <p:nvSpPr>
          <p:cNvPr id="23" name="Marcador de contenido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4684" y="1891554"/>
            <a:ext cx="9484654" cy="2949388"/>
          </a:xfrm>
        </p:spPr>
        <p:txBody>
          <a:bodyPr rtlCol="0" anchor="b">
            <a:normAutofit lnSpcReduction="10000"/>
          </a:bodyPr>
          <a:lstStyle>
            <a:defPPr>
              <a:defRPr lang="es-ES"/>
            </a:defPPr>
          </a:lstStyle>
          <a:p>
            <a:pPr marL="342900" indent="-342900" algn="just" rtl="0">
              <a:lnSpc>
                <a:spcPct val="120000"/>
              </a:lnSpc>
              <a:buFont typeface="+mj-lt"/>
              <a:buAutoNum type="arabicPeriod"/>
            </a:pPr>
            <a:r>
              <a:rPr lang="es-ES" sz="1800" b="1" dirty="0"/>
              <a:t>Correlaciones esperadas no se cumplen: </a:t>
            </a:r>
            <a:r>
              <a:rPr lang="es-ES" sz="1800" dirty="0"/>
              <a:t>Muchas variables que deberían relacionarse no muestran correlación en este </a:t>
            </a:r>
            <a:r>
              <a:rPr lang="es-ES" sz="1800" dirty="0" err="1"/>
              <a:t>Dataset</a:t>
            </a:r>
            <a:r>
              <a:rPr lang="es-ES" sz="1800" dirty="0"/>
              <a:t>.</a:t>
            </a:r>
          </a:p>
          <a:p>
            <a:pPr marL="342900" indent="-342900" algn="just" rtl="0">
              <a:lnSpc>
                <a:spcPct val="120000"/>
              </a:lnSpc>
              <a:buFont typeface="+mj-lt"/>
              <a:buAutoNum type="arabicPeriod"/>
            </a:pPr>
            <a:r>
              <a:rPr lang="es-ES" sz="1800" b="1" dirty="0"/>
              <a:t>Ejercicio físico: </a:t>
            </a:r>
            <a:r>
              <a:rPr lang="es-ES" sz="1800" dirty="0"/>
              <a:t>Tendencia a mayor frecuencia/intensidad → períodos más largos.</a:t>
            </a:r>
          </a:p>
          <a:p>
            <a:pPr marL="342900" indent="-342900" algn="just" rtl="0">
              <a:lnSpc>
                <a:spcPct val="120000"/>
              </a:lnSpc>
              <a:buFont typeface="+mj-lt"/>
              <a:buAutoNum type="arabicPeriod"/>
            </a:pPr>
            <a:r>
              <a:rPr lang="es-ES" sz="1800" b="1" dirty="0"/>
              <a:t>Dieta baja en carbohidratos: </a:t>
            </a:r>
            <a:r>
              <a:rPr lang="es-ES" sz="1800" dirty="0"/>
              <a:t>Asociada con mayor regularidad en los ciclos.</a:t>
            </a:r>
          </a:p>
          <a:p>
            <a:pPr marL="342900" indent="-342900" algn="just" rtl="0">
              <a:lnSpc>
                <a:spcPct val="120000"/>
              </a:lnSpc>
              <a:buFont typeface="+mj-lt"/>
              <a:buAutoNum type="arabicPeriod"/>
            </a:pPr>
            <a:r>
              <a:rPr lang="es-ES" sz="1800" b="1" dirty="0"/>
              <a:t>Cambios de humor: </a:t>
            </a:r>
            <a:r>
              <a:rPr lang="es-ES" sz="1800" dirty="0"/>
              <a:t>Presentes, pero menos frecuentes que otros síntomas.</a:t>
            </a:r>
          </a:p>
          <a:p>
            <a:pPr marL="342900" indent="-342900" algn="just" rtl="0">
              <a:lnSpc>
                <a:spcPct val="120000"/>
              </a:lnSpc>
              <a:buFont typeface="+mj-lt"/>
              <a:buAutoNum type="arabicPeriod"/>
            </a:pPr>
            <a:r>
              <a:rPr lang="es-ES" sz="1800" b="1" dirty="0"/>
              <a:t>Duración de ciclos: </a:t>
            </a:r>
            <a:r>
              <a:rPr lang="es-ES" sz="1800" dirty="0"/>
              <a:t>Mayor a lo habitual (28-35 días), probablemente por características de la muestra (alimentación, estilo de vida), aunque distribución es normal.</a:t>
            </a:r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70_TF89338750_Win32" id="{E492AF64-DD59-444B-B710-ABE53F005779}" vid="{53C34969-EE9A-485C-9F8C-4E21061E05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90754b47-c413-4aa1-bfc3-c33089241f4f}" enabled="1" method="Standard" siteId="{e339bd4b-2e3b-4035-a452-2112d502f2f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{ABA0A393-1A3E-45D6-8FDE-E4D9C77334AA}TF54b766f8-63ee-43b7-9d15-113a5f305028ba7eb754_win32-f97cbd76e99a</Template>
  <TotalTime>2147</TotalTime>
  <Words>576</Words>
  <Application>Microsoft Office PowerPoint</Application>
  <PresentationFormat>Panorámica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Univers</vt:lpstr>
      <vt:lpstr>GradientVTI</vt:lpstr>
      <vt:lpstr>Análisis dEl ciclo menstrual</vt:lpstr>
      <vt:lpstr>MI DATASET</vt:lpstr>
      <vt:lpstr>¿Cuánto dura normalmente un ciclo?</vt:lpstr>
      <vt:lpstr>Ejercicio y duración del período</vt:lpstr>
      <vt:lpstr>Hábitos alimenticios y bienestar</vt:lpstr>
      <vt:lpstr>Estrés y descanso</vt:lpstr>
      <vt:lpstr>Síntomas más comunes</vt:lpstr>
      <vt:lpstr>Cómo varían los síntomas según la época del año</vt:lpstr>
      <vt:lpstr>Cambios en el ciclo a lo largo del tiempo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Cadavieco Domínguez</dc:creator>
  <cp:lastModifiedBy>Cadavieco Dominguez, Paula</cp:lastModifiedBy>
  <cp:revision>6</cp:revision>
  <dcterms:created xsi:type="dcterms:W3CDTF">2025-11-09T16:46:34Z</dcterms:created>
  <dcterms:modified xsi:type="dcterms:W3CDTF">2025-11-11T12:03:57Z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